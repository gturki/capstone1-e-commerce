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A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42" y="3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13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6770" y="168207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CAPSTONE 1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96770" y="2492808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API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42490" y="43987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Turki Alghamdi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82735" y="6080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E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16, 2026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4F80CA-C26E-90F7-B4A3-F19F12B4C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222" y="2047830"/>
            <a:ext cx="5496996" cy="2705553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41EA44B1-78E3-FA41-5A53-4FF6071BAB09}"/>
              </a:ext>
            </a:extLst>
          </p:cNvPr>
          <p:cNvSpPr/>
          <p:nvPr/>
        </p:nvSpPr>
        <p:spPr>
          <a:xfrm>
            <a:off x="896770" y="331097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Instructor: Majd Alzahrani</a:t>
            </a:r>
            <a:endParaRPr lang="en-US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C186C6-16C7-13EC-DCF9-D471C6BB991D}"/>
              </a:ext>
            </a:extLst>
          </p:cNvPr>
          <p:cNvSpPr txBox="1"/>
          <p:nvPr/>
        </p:nvSpPr>
        <p:spPr>
          <a:xfrm>
            <a:off x="10408615" y="41597"/>
            <a:ext cx="19304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   .    .    .    .    .    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   .    .    .    .    .    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   .    .    .    .    .    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   .    .    .    .    .    .</a:t>
            </a:r>
            <a:endParaRPr lang="ar-SA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8C9C51-0097-74E7-19AB-BF9D9A002470}"/>
              </a:ext>
            </a:extLst>
          </p:cNvPr>
          <p:cNvSpPr txBox="1"/>
          <p:nvPr/>
        </p:nvSpPr>
        <p:spPr>
          <a:xfrm>
            <a:off x="-68430" y="5480595"/>
            <a:ext cx="19304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   .    .    .    .    .    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   .    .    .    .    .    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   .    .    .    .    .    .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   .    .    .    .    .    .</a:t>
            </a:r>
            <a:endParaRPr lang="ar-SA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Endpoints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2776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749808" y="156565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E7C8C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/>
          <p:nvPr/>
        </p:nvSpPr>
        <p:spPr>
          <a:xfrm>
            <a:off x="749808" y="15656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5107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Low Stock by Merchant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949704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/api/v1/merchant/get/low-stock/{merchantID}/{lowStockAmount}</a:t>
            </a:r>
            <a:endParaRPr lang="en-US" sz="1050" b="1" dirty="0"/>
          </a:p>
        </p:txBody>
      </p:sp>
      <p:sp>
        <p:nvSpPr>
          <p:cNvPr id="9" name="Shape 7"/>
          <p:cNvSpPr/>
          <p:nvPr/>
        </p:nvSpPr>
        <p:spPr>
          <a:xfrm>
            <a:off x="6217920" y="1382776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" name="Shape 8"/>
          <p:cNvSpPr/>
          <p:nvPr/>
        </p:nvSpPr>
        <p:spPr>
          <a:xfrm>
            <a:off x="6419088" y="156565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E7C8C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/>
          <p:nvPr/>
        </p:nvSpPr>
        <p:spPr>
          <a:xfrm>
            <a:off x="6419088" y="15656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78040" y="15107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Merchant Products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9088" y="1949704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/api/v1/merchant/get/merchant-products/{merchantID}</a:t>
            </a:r>
            <a:endParaRPr lang="en-US" sz="1050" b="1" dirty="0"/>
          </a:p>
        </p:txBody>
      </p:sp>
      <p:sp>
        <p:nvSpPr>
          <p:cNvPr id="14" name="Shape 12"/>
          <p:cNvSpPr/>
          <p:nvPr/>
        </p:nvSpPr>
        <p:spPr>
          <a:xfrm>
            <a:off x="548640" y="2681224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5" name="Shape 13"/>
          <p:cNvSpPr/>
          <p:nvPr/>
        </p:nvSpPr>
        <p:spPr>
          <a:xfrm>
            <a:off x="749808" y="286410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E7C8C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749808" y="286410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28092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Merchants Selling a Product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3248152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/api/v1/merchant/get/compare-merchants/{productID}</a:t>
            </a:r>
            <a:endParaRPr lang="en-US" sz="1050" b="1" dirty="0"/>
          </a:p>
        </p:txBody>
      </p:sp>
      <p:sp>
        <p:nvSpPr>
          <p:cNvPr id="19" name="Shape 17"/>
          <p:cNvSpPr/>
          <p:nvPr/>
        </p:nvSpPr>
        <p:spPr>
          <a:xfrm>
            <a:off x="6217920" y="2681224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0" name="Shape 18"/>
          <p:cNvSpPr/>
          <p:nvPr/>
        </p:nvSpPr>
        <p:spPr>
          <a:xfrm>
            <a:off x="6419088" y="286410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E7C8C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1" name="Text 19"/>
          <p:cNvSpPr/>
          <p:nvPr/>
        </p:nvSpPr>
        <p:spPr>
          <a:xfrm>
            <a:off x="6419088" y="286410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8040" y="28092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Products Within User Budget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9088" y="3248152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/api/v1/merchant/get/products-within-budget/userid/{userID}</a:t>
            </a:r>
            <a:endParaRPr lang="en-US" sz="1050" b="1" dirty="0"/>
          </a:p>
        </p:txBody>
      </p:sp>
      <p:sp>
        <p:nvSpPr>
          <p:cNvPr id="24" name="Shape 22"/>
          <p:cNvSpPr/>
          <p:nvPr/>
        </p:nvSpPr>
        <p:spPr>
          <a:xfrm>
            <a:off x="548640" y="3979672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5" name="Shape 23"/>
          <p:cNvSpPr/>
          <p:nvPr/>
        </p:nvSpPr>
        <p:spPr>
          <a:xfrm>
            <a:off x="749808" y="4162552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8A33D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749808" y="41625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08760" y="410768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Balance Between Users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4546600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/api/v1/merchant/transfer/senderid/{senderID}/receiverid/{receiverID}/amount/{amount}</a:t>
            </a:r>
            <a:endParaRPr lang="en-US" sz="1050" b="1" dirty="0"/>
          </a:p>
        </p:txBody>
      </p:sp>
      <p:sp>
        <p:nvSpPr>
          <p:cNvPr id="29" name="Shape 27"/>
          <p:cNvSpPr/>
          <p:nvPr/>
        </p:nvSpPr>
        <p:spPr>
          <a:xfrm>
            <a:off x="6217920" y="3979672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0" name="Shape 28"/>
          <p:cNvSpPr/>
          <p:nvPr/>
        </p:nvSpPr>
        <p:spPr>
          <a:xfrm>
            <a:off x="6419088" y="4162552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E7C8C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1" name="Text 29"/>
          <p:cNvSpPr/>
          <p:nvPr/>
        </p:nvSpPr>
        <p:spPr>
          <a:xfrm>
            <a:off x="6419088" y="41625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78040" y="410768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Shipping Duration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19088" y="4546600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/api/v1/merchant/shipping-duration/userid/{userID}/productid/{productID}/merchantid/{merchantID}/user-region/{userRegion}/merchant-region/{merchantRegion}</a:t>
            </a:r>
            <a:endParaRPr lang="en-US" sz="1000" b="1" dirty="0"/>
          </a:p>
        </p:txBody>
      </p:sp>
      <p:sp>
        <p:nvSpPr>
          <p:cNvPr id="34" name="Shape 32"/>
          <p:cNvSpPr/>
          <p:nvPr/>
        </p:nvSpPr>
        <p:spPr>
          <a:xfrm>
            <a:off x="548640" y="527812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5" name="Shape 33"/>
          <p:cNvSpPr/>
          <p:nvPr/>
        </p:nvSpPr>
        <p:spPr>
          <a:xfrm>
            <a:off x="749808" y="546100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8A33D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749808" y="54610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508760" y="540613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Item (used/unused)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9808" y="5845048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/api/v1/merchant/refund/userid/{userID}/productid/{productID}/merchantid/{merchantID}/condition/{condition}</a:t>
            </a:r>
            <a:endParaRPr lang="en-US" sz="1050" b="1" dirty="0"/>
          </a:p>
        </p:txBody>
      </p:sp>
      <p:sp>
        <p:nvSpPr>
          <p:cNvPr id="39" name="Shape 37"/>
          <p:cNvSpPr/>
          <p:nvPr/>
        </p:nvSpPr>
        <p:spPr>
          <a:xfrm>
            <a:off x="6217920" y="527812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40" name="Shape 38"/>
          <p:cNvSpPr/>
          <p:nvPr/>
        </p:nvSpPr>
        <p:spPr>
          <a:xfrm>
            <a:off x="6419088" y="546100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8A33D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41" name="Text 39"/>
          <p:cNvSpPr/>
          <p:nvPr/>
        </p:nvSpPr>
        <p:spPr>
          <a:xfrm>
            <a:off x="6419088" y="54610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78040" y="540613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Coupon Code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19088" y="5845048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/api/v1/merchant/apply-discount/{userID}/{code}</a:t>
            </a:r>
            <a:endParaRPr lang="en-US" sz="1050" b="1" dirty="0"/>
          </a:p>
        </p:txBody>
      </p:sp>
      <p:sp>
        <p:nvSpPr>
          <p:cNvPr id="45" name="Text 43"/>
          <p:cNvSpPr/>
          <p:nvPr/>
        </p:nvSpPr>
        <p:spPr>
          <a:xfrm>
            <a:off x="10797988" y="6521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2/11</a:t>
            </a:r>
            <a:endParaRPr lang="en-US" sz="12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B50A725-3227-1C53-CF4A-CA599A72C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-298273"/>
            <a:ext cx="3532094" cy="17384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Low Stock by Merchant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E7C8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44168" y="1298448"/>
            <a:ext cx="10149840" cy="310896"/>
          </a:xfrm>
          <a:prstGeom prst="roundRect">
            <a:avLst>
              <a:gd name="adj" fmla="val 1764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1481328" y="12984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/api/v1/merchant/get/low-stock/{merchantID}/{lowStockAmount}</a:t>
            </a:r>
            <a:endParaRPr lang="en-US" sz="1600" b="1" dirty="0"/>
          </a:p>
        </p:txBody>
      </p:sp>
      <p:sp>
        <p:nvSpPr>
          <p:cNvPr id="13" name="Text 11"/>
          <p:cNvSpPr/>
          <p:nvPr/>
        </p:nvSpPr>
        <p:spPr>
          <a:xfrm>
            <a:off x="1188720" y="2459736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88720" y="2734056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merchantID and lowStockAmount from the path.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92424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stock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88720" y="3666744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all stock records belonging to that merchant.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32511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threshold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88720" y="4599432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items where stock ≤ lowStockAmount.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578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results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88720" y="553212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the filtered low-stock item list.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80960" y="251460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1B2A4A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8001000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E8A33D"/>
                </a:solidFill>
                <a:latin typeface="Calibri" pitchFamily="34" charset="0"/>
                <a:cs typeface="Calibri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01000" y="3291840"/>
            <a:ext cx="33375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can see which products are low on stock.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3/11</a:t>
            </a:r>
            <a:endParaRPr lang="en-US" sz="1200" dirty="0"/>
          </a:p>
        </p:txBody>
      </p:sp>
      <p:sp>
        <p:nvSpPr>
          <p:cNvPr id="103" name="Shape 8">
            <a:extLst>
              <a:ext uri="{FF2B5EF4-FFF2-40B4-BE49-F238E27FC236}">
                <a16:creationId xmlns:a16="http://schemas.microsoft.com/office/drawing/2014/main" id="{C6AA03A9-5CCA-4A01-1144-E12E805BD498}"/>
              </a:ext>
            </a:extLst>
          </p:cNvPr>
          <p:cNvSpPr/>
          <p:nvPr/>
        </p:nvSpPr>
        <p:spPr>
          <a:xfrm>
            <a:off x="806406" y="2898647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5" name="Shape 9">
            <a:extLst>
              <a:ext uri="{FF2B5EF4-FFF2-40B4-BE49-F238E27FC236}">
                <a16:creationId xmlns:a16="http://schemas.microsoft.com/office/drawing/2014/main" id="{1B7526E3-7B6B-4CA5-9326-3A6D73B83CD0}"/>
              </a:ext>
            </a:extLst>
          </p:cNvPr>
          <p:cNvSpPr/>
          <p:nvPr/>
        </p:nvSpPr>
        <p:spPr>
          <a:xfrm>
            <a:off x="548640" y="2514600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7" name="Text 10">
            <a:extLst>
              <a:ext uri="{FF2B5EF4-FFF2-40B4-BE49-F238E27FC236}">
                <a16:creationId xmlns:a16="http://schemas.microsoft.com/office/drawing/2014/main" id="{3E1236B8-F416-D16B-E4B3-CB9D1A653221}"/>
              </a:ext>
            </a:extLst>
          </p:cNvPr>
          <p:cNvSpPr/>
          <p:nvPr/>
        </p:nvSpPr>
        <p:spPr>
          <a:xfrm>
            <a:off x="548640" y="2514600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9" name="Shape 13">
            <a:extLst>
              <a:ext uri="{FF2B5EF4-FFF2-40B4-BE49-F238E27FC236}">
                <a16:creationId xmlns:a16="http://schemas.microsoft.com/office/drawing/2014/main" id="{1F12EC63-94F3-7DDB-34CD-365443F3052D}"/>
              </a:ext>
            </a:extLst>
          </p:cNvPr>
          <p:cNvSpPr/>
          <p:nvPr/>
        </p:nvSpPr>
        <p:spPr>
          <a:xfrm>
            <a:off x="806406" y="3831335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1" name="Shape 14">
            <a:extLst>
              <a:ext uri="{FF2B5EF4-FFF2-40B4-BE49-F238E27FC236}">
                <a16:creationId xmlns:a16="http://schemas.microsoft.com/office/drawing/2014/main" id="{2FE50AFE-A58F-A9A0-B1B7-DBD2766BE6E1}"/>
              </a:ext>
            </a:extLst>
          </p:cNvPr>
          <p:cNvSpPr/>
          <p:nvPr/>
        </p:nvSpPr>
        <p:spPr>
          <a:xfrm>
            <a:off x="548640" y="3447288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F6686B1A-9711-1500-7587-B7C3DB538BB1}"/>
              </a:ext>
            </a:extLst>
          </p:cNvPr>
          <p:cNvSpPr/>
          <p:nvPr/>
        </p:nvSpPr>
        <p:spPr>
          <a:xfrm>
            <a:off x="548640" y="3447288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5" name="Shape 18">
            <a:extLst>
              <a:ext uri="{FF2B5EF4-FFF2-40B4-BE49-F238E27FC236}">
                <a16:creationId xmlns:a16="http://schemas.microsoft.com/office/drawing/2014/main" id="{FB0F5021-0945-9914-AA5D-F666046CABCF}"/>
              </a:ext>
            </a:extLst>
          </p:cNvPr>
          <p:cNvSpPr/>
          <p:nvPr/>
        </p:nvSpPr>
        <p:spPr>
          <a:xfrm>
            <a:off x="806406" y="4764023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7" name="Shape 19">
            <a:extLst>
              <a:ext uri="{FF2B5EF4-FFF2-40B4-BE49-F238E27FC236}">
                <a16:creationId xmlns:a16="http://schemas.microsoft.com/office/drawing/2014/main" id="{21F28A38-87D7-A754-40A5-CF5FAC0CFD11}"/>
              </a:ext>
            </a:extLst>
          </p:cNvPr>
          <p:cNvSpPr/>
          <p:nvPr/>
        </p:nvSpPr>
        <p:spPr>
          <a:xfrm>
            <a:off x="548640" y="4379976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19" name="Text 20">
            <a:extLst>
              <a:ext uri="{FF2B5EF4-FFF2-40B4-BE49-F238E27FC236}">
                <a16:creationId xmlns:a16="http://schemas.microsoft.com/office/drawing/2014/main" id="{121F4F3F-8765-D95D-B38A-020611409307}"/>
              </a:ext>
            </a:extLst>
          </p:cNvPr>
          <p:cNvSpPr/>
          <p:nvPr/>
        </p:nvSpPr>
        <p:spPr>
          <a:xfrm>
            <a:off x="548640" y="4379976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1" name="Shape 23">
            <a:extLst>
              <a:ext uri="{FF2B5EF4-FFF2-40B4-BE49-F238E27FC236}">
                <a16:creationId xmlns:a16="http://schemas.microsoft.com/office/drawing/2014/main" id="{6E864397-A968-15D7-6DAE-DA2AEA2443F3}"/>
              </a:ext>
            </a:extLst>
          </p:cNvPr>
          <p:cNvSpPr/>
          <p:nvPr/>
        </p:nvSpPr>
        <p:spPr>
          <a:xfrm>
            <a:off x="548640" y="5312664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23" name="Text 24">
            <a:extLst>
              <a:ext uri="{FF2B5EF4-FFF2-40B4-BE49-F238E27FC236}">
                <a16:creationId xmlns:a16="http://schemas.microsoft.com/office/drawing/2014/main" id="{9E895F16-FE3A-A03B-8D88-15F05703307E}"/>
              </a:ext>
            </a:extLst>
          </p:cNvPr>
          <p:cNvSpPr/>
          <p:nvPr/>
        </p:nvSpPr>
        <p:spPr>
          <a:xfrm>
            <a:off x="548640" y="5312664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4FD5B562-AB3C-6BDA-622E-F16EBE59AF7E}"/>
              </a:ext>
            </a:extLst>
          </p:cNvPr>
          <p:cNvSpPr/>
          <p:nvPr/>
        </p:nvSpPr>
        <p:spPr>
          <a:xfrm>
            <a:off x="548640" y="20711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2000" dirty="0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95D054D1-9A0F-27FD-077C-CF3C6808E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-298273"/>
            <a:ext cx="3532094" cy="17384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9" name="Text 30">
            <a:extLst>
              <a:ext uri="{FF2B5EF4-FFF2-40B4-BE49-F238E27FC236}">
                <a16:creationId xmlns:a16="http://schemas.microsoft.com/office/drawing/2014/main" id="{B2EE4E4D-6FAA-2EC7-55E8-8C6AA2F05922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 · SPRING BOOT</a:t>
            </a:r>
            <a:endParaRPr lang="en-US" sz="11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0F0B918-EC96-1A77-4A1F-F6758B60D8F0}"/>
              </a:ext>
            </a:extLst>
          </p:cNvPr>
          <p:cNvSpPr/>
          <p:nvPr/>
        </p:nvSpPr>
        <p:spPr>
          <a:xfrm>
            <a:off x="394447" y="1882588"/>
            <a:ext cx="5593977" cy="4464424"/>
          </a:xfrm>
          <a:custGeom>
            <a:avLst/>
            <a:gdLst>
              <a:gd name="csX0" fmla="*/ 0 w 5593977"/>
              <a:gd name="csY0" fmla="*/ 0 h 4464424"/>
              <a:gd name="csX1" fmla="*/ 5593977 w 5593977"/>
              <a:gd name="csY1" fmla="*/ 0 h 4464424"/>
              <a:gd name="csX2" fmla="*/ 5593977 w 5593977"/>
              <a:gd name="csY2" fmla="*/ 4464424 h 4464424"/>
              <a:gd name="csX3" fmla="*/ 0 w 5593977"/>
              <a:gd name="csY3" fmla="*/ 4464424 h 4464424"/>
              <a:gd name="csX4" fmla="*/ 0 w 5593977"/>
              <a:gd name="csY4" fmla="*/ 0 h 4464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3977" h="4464424" extrusionOk="0">
                <a:moveTo>
                  <a:pt x="0" y="0"/>
                </a:moveTo>
                <a:cubicBezTo>
                  <a:pt x="2559741" y="118645"/>
                  <a:pt x="4855588" y="116012"/>
                  <a:pt x="5593977" y="0"/>
                </a:cubicBezTo>
                <a:cubicBezTo>
                  <a:pt x="5461095" y="1164444"/>
                  <a:pt x="5678928" y="2994840"/>
                  <a:pt x="5593977" y="4464424"/>
                </a:cubicBezTo>
                <a:cubicBezTo>
                  <a:pt x="2926081" y="4599024"/>
                  <a:pt x="2263328" y="4307228"/>
                  <a:pt x="0" y="4464424"/>
                </a:cubicBezTo>
                <a:cubicBezTo>
                  <a:pt x="-20187" y="2308772"/>
                  <a:pt x="-152480" y="919621"/>
                  <a:pt x="0" y="0"/>
                </a:cubicBezTo>
                <a:close/>
              </a:path>
            </a:pathLst>
          </a:custGeom>
          <a:noFill/>
          <a:ln w="44450" cap="rnd">
            <a:solidFill>
              <a:schemeClr val="accent1">
                <a:shade val="15000"/>
                <a:alpha val="35000"/>
              </a:schemeClr>
            </a:solidFill>
            <a:prstDash val="sysDot"/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Merchant Products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E7C8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44168" y="1298448"/>
            <a:ext cx="10149840" cy="310896"/>
          </a:xfrm>
          <a:prstGeom prst="roundRect">
            <a:avLst>
              <a:gd name="adj" fmla="val 1764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1481328" y="12984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/api/v1/merchant/get/merchant-products/{merchantID}</a:t>
            </a:r>
            <a:endParaRPr lang="en-US" sz="1600" b="1" dirty="0"/>
          </a:p>
        </p:txBody>
      </p:sp>
      <p:sp>
        <p:nvSpPr>
          <p:cNvPr id="9" name="Text 7"/>
          <p:cNvSpPr/>
          <p:nvPr/>
        </p:nvSpPr>
        <p:spPr>
          <a:xfrm>
            <a:off x="548640" y="20711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459736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88720" y="2734056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merchantID from the path.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92424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stock entries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88720" y="3666744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stock rows tied to this merchant.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32511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88720" y="4599432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entries down to distinct products.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578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list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88720" y="553212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the merchant's product catalog.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80960" y="251460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1B2A4A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8001000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150" dirty="0">
                <a:solidFill>
                  <a:srgbClr val="E8A33D"/>
                </a:solidFill>
                <a:latin typeface="Calibri" pitchFamily="34" charset="0"/>
                <a:cs typeface="Calibri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01000" y="3291840"/>
            <a:ext cx="33375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everything a merchant sells with no duplicates.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 · SPRING BOOT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12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0C0CA142-A2CF-403C-753E-C23BDA8E25EA}"/>
              </a:ext>
            </a:extLst>
          </p:cNvPr>
          <p:cNvSpPr/>
          <p:nvPr/>
        </p:nvSpPr>
        <p:spPr>
          <a:xfrm>
            <a:off x="806406" y="2898647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15BAEFB9-EB44-B1EC-71EB-D42EC96C1626}"/>
              </a:ext>
            </a:extLst>
          </p:cNvPr>
          <p:cNvSpPr/>
          <p:nvPr/>
        </p:nvSpPr>
        <p:spPr>
          <a:xfrm>
            <a:off x="548640" y="2514600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C9B4647A-E452-847B-ADB4-02EB7DFE815F}"/>
              </a:ext>
            </a:extLst>
          </p:cNvPr>
          <p:cNvSpPr/>
          <p:nvPr/>
        </p:nvSpPr>
        <p:spPr>
          <a:xfrm>
            <a:off x="548640" y="2514600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B9C43005-AD20-5CD4-E5E4-BA7BF296D664}"/>
              </a:ext>
            </a:extLst>
          </p:cNvPr>
          <p:cNvSpPr/>
          <p:nvPr/>
        </p:nvSpPr>
        <p:spPr>
          <a:xfrm>
            <a:off x="806406" y="3831335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3E13BA5E-C7F0-E639-3705-F1C3DAA6D797}"/>
              </a:ext>
            </a:extLst>
          </p:cNvPr>
          <p:cNvSpPr/>
          <p:nvPr/>
        </p:nvSpPr>
        <p:spPr>
          <a:xfrm>
            <a:off x="548640" y="3447288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F3C8F414-B76E-DB62-9298-918B86823BFD}"/>
              </a:ext>
            </a:extLst>
          </p:cNvPr>
          <p:cNvSpPr/>
          <p:nvPr/>
        </p:nvSpPr>
        <p:spPr>
          <a:xfrm>
            <a:off x="548640" y="3447288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1A4AE6D3-35A0-C308-456A-D3722A1E8C4F}"/>
              </a:ext>
            </a:extLst>
          </p:cNvPr>
          <p:cNvSpPr/>
          <p:nvPr/>
        </p:nvSpPr>
        <p:spPr>
          <a:xfrm>
            <a:off x="806406" y="4764023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71EF5263-13AA-6A22-3C50-647E43B11898}"/>
              </a:ext>
            </a:extLst>
          </p:cNvPr>
          <p:cNvSpPr/>
          <p:nvPr/>
        </p:nvSpPr>
        <p:spPr>
          <a:xfrm>
            <a:off x="548640" y="4379976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A0468C0C-F12C-E312-3A52-8270EFB05432}"/>
              </a:ext>
            </a:extLst>
          </p:cNvPr>
          <p:cNvSpPr/>
          <p:nvPr/>
        </p:nvSpPr>
        <p:spPr>
          <a:xfrm>
            <a:off x="548640" y="4379976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7BB44654-17D5-A442-5117-15F689E27A5C}"/>
              </a:ext>
            </a:extLst>
          </p:cNvPr>
          <p:cNvSpPr/>
          <p:nvPr/>
        </p:nvSpPr>
        <p:spPr>
          <a:xfrm>
            <a:off x="548640" y="5312664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06644249-B2C4-6904-C2ED-44FE97C27B5B}"/>
              </a:ext>
            </a:extLst>
          </p:cNvPr>
          <p:cNvSpPr/>
          <p:nvPr/>
        </p:nvSpPr>
        <p:spPr>
          <a:xfrm>
            <a:off x="548640" y="5312664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7BB69868-3BD4-AEB6-6182-B781C06E3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-298273"/>
            <a:ext cx="3532094" cy="17384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0DB22D42-F585-F353-9C88-5AA2959802C9}"/>
              </a:ext>
            </a:extLst>
          </p:cNvPr>
          <p:cNvSpPr/>
          <p:nvPr/>
        </p:nvSpPr>
        <p:spPr>
          <a:xfrm>
            <a:off x="394447" y="1882588"/>
            <a:ext cx="5593977" cy="4464424"/>
          </a:xfrm>
          <a:custGeom>
            <a:avLst/>
            <a:gdLst>
              <a:gd name="csX0" fmla="*/ 0 w 5593977"/>
              <a:gd name="csY0" fmla="*/ 0 h 4464424"/>
              <a:gd name="csX1" fmla="*/ 5593977 w 5593977"/>
              <a:gd name="csY1" fmla="*/ 0 h 4464424"/>
              <a:gd name="csX2" fmla="*/ 5593977 w 5593977"/>
              <a:gd name="csY2" fmla="*/ 4464424 h 4464424"/>
              <a:gd name="csX3" fmla="*/ 0 w 5593977"/>
              <a:gd name="csY3" fmla="*/ 4464424 h 4464424"/>
              <a:gd name="csX4" fmla="*/ 0 w 5593977"/>
              <a:gd name="csY4" fmla="*/ 0 h 4464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3977" h="4464424" extrusionOk="0">
                <a:moveTo>
                  <a:pt x="0" y="0"/>
                </a:moveTo>
                <a:cubicBezTo>
                  <a:pt x="2559741" y="118645"/>
                  <a:pt x="4855588" y="116012"/>
                  <a:pt x="5593977" y="0"/>
                </a:cubicBezTo>
                <a:cubicBezTo>
                  <a:pt x="5461095" y="1164444"/>
                  <a:pt x="5678928" y="2994840"/>
                  <a:pt x="5593977" y="4464424"/>
                </a:cubicBezTo>
                <a:cubicBezTo>
                  <a:pt x="2926081" y="4599024"/>
                  <a:pt x="2263328" y="4307228"/>
                  <a:pt x="0" y="4464424"/>
                </a:cubicBezTo>
                <a:cubicBezTo>
                  <a:pt x="-20187" y="2308772"/>
                  <a:pt x="-152480" y="919621"/>
                  <a:pt x="0" y="0"/>
                </a:cubicBezTo>
                <a:close/>
              </a:path>
            </a:pathLst>
          </a:custGeom>
          <a:noFill/>
          <a:ln w="44450" cap="rnd">
            <a:solidFill>
              <a:schemeClr val="accent1">
                <a:shade val="15000"/>
                <a:alpha val="35000"/>
              </a:schemeClr>
            </a:solidFill>
            <a:prstDash val="sysDot"/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Merchants Selling a Product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E7C8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44168" y="1298448"/>
            <a:ext cx="10149840" cy="310896"/>
          </a:xfrm>
          <a:prstGeom prst="roundRect">
            <a:avLst>
              <a:gd name="adj" fmla="val 1764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1481328" y="12984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/api/v1/merchant/get/compare-merchants/{productID}</a:t>
            </a:r>
            <a:endParaRPr lang="en-US" sz="1600" b="1" dirty="0"/>
          </a:p>
        </p:txBody>
      </p:sp>
      <p:sp>
        <p:nvSpPr>
          <p:cNvPr id="13" name="Text 11"/>
          <p:cNvSpPr/>
          <p:nvPr/>
        </p:nvSpPr>
        <p:spPr>
          <a:xfrm>
            <a:off x="1188720" y="2459736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88720" y="2734056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productID from the path.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92424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all merchants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88720" y="3666744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stock entry referencing this product.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32511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comparison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88720" y="4599432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results by merchant.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578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list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88720" y="553212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merchant, price, and stock level for each.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80960" y="251460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1B2A4A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8001000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150" dirty="0">
                <a:solidFill>
                  <a:srgbClr val="E8A33D"/>
                </a:solidFill>
                <a:latin typeface="Calibri" pitchFamily="34" charset="0"/>
                <a:cs typeface="Calibri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01000" y="3291840"/>
            <a:ext cx="33375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shoppers compare price and stock across sellers.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5/11</a:t>
            </a:r>
            <a:endParaRPr lang="en-US" sz="12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24C0E70-1D5C-3369-CD20-A499314B6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-298273"/>
            <a:ext cx="3532094" cy="17384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9" name="Text 7">
            <a:extLst>
              <a:ext uri="{FF2B5EF4-FFF2-40B4-BE49-F238E27FC236}">
                <a16:creationId xmlns:a16="http://schemas.microsoft.com/office/drawing/2014/main" id="{ECC5672B-B09B-9A0F-7599-806405EAA0F3}"/>
              </a:ext>
            </a:extLst>
          </p:cNvPr>
          <p:cNvSpPr/>
          <p:nvPr/>
        </p:nvSpPr>
        <p:spPr>
          <a:xfrm>
            <a:off x="548640" y="20711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2000" dirty="0"/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E55B677E-BE30-C567-DC9D-2FBC02081D8D}"/>
              </a:ext>
            </a:extLst>
          </p:cNvPr>
          <p:cNvSpPr/>
          <p:nvPr/>
        </p:nvSpPr>
        <p:spPr>
          <a:xfrm>
            <a:off x="806406" y="2898647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7799A6E4-564C-91A2-4018-7ADE1D39A1B7}"/>
              </a:ext>
            </a:extLst>
          </p:cNvPr>
          <p:cNvSpPr/>
          <p:nvPr/>
        </p:nvSpPr>
        <p:spPr>
          <a:xfrm>
            <a:off x="548640" y="2514600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994E4603-EE04-D620-930C-B41021560CAD}"/>
              </a:ext>
            </a:extLst>
          </p:cNvPr>
          <p:cNvSpPr/>
          <p:nvPr/>
        </p:nvSpPr>
        <p:spPr>
          <a:xfrm>
            <a:off x="548640" y="2514600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B34D5E29-F8BB-195F-CFE1-12E8FBE68649}"/>
              </a:ext>
            </a:extLst>
          </p:cNvPr>
          <p:cNvSpPr/>
          <p:nvPr/>
        </p:nvSpPr>
        <p:spPr>
          <a:xfrm>
            <a:off x="806406" y="3831335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6F4C82D1-7100-EE71-E951-34315EDAED5F}"/>
              </a:ext>
            </a:extLst>
          </p:cNvPr>
          <p:cNvSpPr/>
          <p:nvPr/>
        </p:nvSpPr>
        <p:spPr>
          <a:xfrm>
            <a:off x="548640" y="3447288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044CCBDA-15F6-D123-C0E0-7FC5C35E74DD}"/>
              </a:ext>
            </a:extLst>
          </p:cNvPr>
          <p:cNvSpPr/>
          <p:nvPr/>
        </p:nvSpPr>
        <p:spPr>
          <a:xfrm>
            <a:off x="548640" y="3447288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3" name="Shape 18">
            <a:extLst>
              <a:ext uri="{FF2B5EF4-FFF2-40B4-BE49-F238E27FC236}">
                <a16:creationId xmlns:a16="http://schemas.microsoft.com/office/drawing/2014/main" id="{60A493D5-C31E-8822-4E52-91F9E038A608}"/>
              </a:ext>
            </a:extLst>
          </p:cNvPr>
          <p:cNvSpPr/>
          <p:nvPr/>
        </p:nvSpPr>
        <p:spPr>
          <a:xfrm>
            <a:off x="806406" y="4764023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5" name="Shape 19">
            <a:extLst>
              <a:ext uri="{FF2B5EF4-FFF2-40B4-BE49-F238E27FC236}">
                <a16:creationId xmlns:a16="http://schemas.microsoft.com/office/drawing/2014/main" id="{0D51631E-8C04-D1BB-EAA4-78063EA49ECA}"/>
              </a:ext>
            </a:extLst>
          </p:cNvPr>
          <p:cNvSpPr/>
          <p:nvPr/>
        </p:nvSpPr>
        <p:spPr>
          <a:xfrm>
            <a:off x="548640" y="4379976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DA65AB0E-3344-A80C-3761-C72A5ED418FA}"/>
              </a:ext>
            </a:extLst>
          </p:cNvPr>
          <p:cNvSpPr/>
          <p:nvPr/>
        </p:nvSpPr>
        <p:spPr>
          <a:xfrm>
            <a:off x="548640" y="4379976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9" name="Shape 23">
            <a:extLst>
              <a:ext uri="{FF2B5EF4-FFF2-40B4-BE49-F238E27FC236}">
                <a16:creationId xmlns:a16="http://schemas.microsoft.com/office/drawing/2014/main" id="{869A66C6-82C1-43B1-C2C8-BDD64C9E79CF}"/>
              </a:ext>
            </a:extLst>
          </p:cNvPr>
          <p:cNvSpPr/>
          <p:nvPr/>
        </p:nvSpPr>
        <p:spPr>
          <a:xfrm>
            <a:off x="548640" y="5312664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1" name="Text 24">
            <a:extLst>
              <a:ext uri="{FF2B5EF4-FFF2-40B4-BE49-F238E27FC236}">
                <a16:creationId xmlns:a16="http://schemas.microsoft.com/office/drawing/2014/main" id="{03EB7386-20E1-9AE8-20EF-D4650ACF9D8D}"/>
              </a:ext>
            </a:extLst>
          </p:cNvPr>
          <p:cNvSpPr/>
          <p:nvPr/>
        </p:nvSpPr>
        <p:spPr>
          <a:xfrm>
            <a:off x="548640" y="5312664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3" name="Text 30">
            <a:extLst>
              <a:ext uri="{FF2B5EF4-FFF2-40B4-BE49-F238E27FC236}">
                <a16:creationId xmlns:a16="http://schemas.microsoft.com/office/drawing/2014/main" id="{C5E504B5-C47E-79A9-12B3-87A225489F7D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 · SPRING BOOT</a:t>
            </a:r>
            <a:endParaRPr lang="en-US" sz="11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F27FC6-A918-C43E-74D2-B99C540AAE78}"/>
              </a:ext>
            </a:extLst>
          </p:cNvPr>
          <p:cNvSpPr/>
          <p:nvPr/>
        </p:nvSpPr>
        <p:spPr>
          <a:xfrm>
            <a:off x="394447" y="1882588"/>
            <a:ext cx="5593977" cy="4464424"/>
          </a:xfrm>
          <a:custGeom>
            <a:avLst/>
            <a:gdLst>
              <a:gd name="csX0" fmla="*/ 0 w 5593977"/>
              <a:gd name="csY0" fmla="*/ 0 h 4464424"/>
              <a:gd name="csX1" fmla="*/ 5593977 w 5593977"/>
              <a:gd name="csY1" fmla="*/ 0 h 4464424"/>
              <a:gd name="csX2" fmla="*/ 5593977 w 5593977"/>
              <a:gd name="csY2" fmla="*/ 4464424 h 4464424"/>
              <a:gd name="csX3" fmla="*/ 0 w 5593977"/>
              <a:gd name="csY3" fmla="*/ 4464424 h 4464424"/>
              <a:gd name="csX4" fmla="*/ 0 w 5593977"/>
              <a:gd name="csY4" fmla="*/ 0 h 4464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3977" h="4464424" extrusionOk="0">
                <a:moveTo>
                  <a:pt x="0" y="0"/>
                </a:moveTo>
                <a:cubicBezTo>
                  <a:pt x="2559741" y="118645"/>
                  <a:pt x="4855588" y="116012"/>
                  <a:pt x="5593977" y="0"/>
                </a:cubicBezTo>
                <a:cubicBezTo>
                  <a:pt x="5461095" y="1164444"/>
                  <a:pt x="5678928" y="2994840"/>
                  <a:pt x="5593977" y="4464424"/>
                </a:cubicBezTo>
                <a:cubicBezTo>
                  <a:pt x="2926081" y="4599024"/>
                  <a:pt x="2263328" y="4307228"/>
                  <a:pt x="0" y="4464424"/>
                </a:cubicBezTo>
                <a:cubicBezTo>
                  <a:pt x="-20187" y="2308772"/>
                  <a:pt x="-152480" y="919621"/>
                  <a:pt x="0" y="0"/>
                </a:cubicBezTo>
                <a:close/>
              </a:path>
            </a:pathLst>
          </a:custGeom>
          <a:noFill/>
          <a:ln w="44450" cap="rnd">
            <a:solidFill>
              <a:schemeClr val="accent1">
                <a:shade val="15000"/>
                <a:alpha val="35000"/>
              </a:schemeClr>
            </a:solidFill>
            <a:prstDash val="sysDot"/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Products Within User Budget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E7C8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44168" y="1298448"/>
            <a:ext cx="10149840" cy="310896"/>
          </a:xfrm>
          <a:prstGeom prst="roundRect">
            <a:avLst>
              <a:gd name="adj" fmla="val 1764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1481328" y="12984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/api/v1/merchant/get/products-within-budget/userid/{userID}</a:t>
            </a:r>
            <a:endParaRPr lang="en-US" sz="1600" b="1" dirty="0"/>
          </a:p>
        </p:txBody>
      </p:sp>
      <p:sp>
        <p:nvSpPr>
          <p:cNvPr id="13" name="Text 11"/>
          <p:cNvSpPr/>
          <p:nvPr/>
        </p:nvSpPr>
        <p:spPr>
          <a:xfrm>
            <a:off x="1188720" y="2459736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user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88720" y="2734056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user and their current balance.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92424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products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88720" y="3666744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products currently in stock somewhere.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32511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price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88720" y="4599432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items priced ≤ the user's balance.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578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list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88720" y="553212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the affordable, in-stock products.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80960" y="251460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1B2A4A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8001000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150" dirty="0">
                <a:solidFill>
                  <a:srgbClr val="E8A33D"/>
                </a:solidFill>
                <a:latin typeface="Calibri" pitchFamily="34" charset="0"/>
                <a:cs typeface="Calibri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01000" y="3291840"/>
            <a:ext cx="33375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only products the user can actually afford and buy right now.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6/11</a:t>
            </a:r>
            <a:endParaRPr lang="en-US" sz="120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B6F6BECC-4EEA-41CF-D1A4-39245404EF70}"/>
              </a:ext>
            </a:extLst>
          </p:cNvPr>
          <p:cNvSpPr/>
          <p:nvPr/>
        </p:nvSpPr>
        <p:spPr>
          <a:xfrm>
            <a:off x="548640" y="20711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2000" dirty="0"/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E0308AF5-F287-3A05-B614-12DCDEE7DCD9}"/>
              </a:ext>
            </a:extLst>
          </p:cNvPr>
          <p:cNvSpPr/>
          <p:nvPr/>
        </p:nvSpPr>
        <p:spPr>
          <a:xfrm>
            <a:off x="806406" y="2898647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7B818D9B-6F8A-88FD-C89D-D9229B76F890}"/>
              </a:ext>
            </a:extLst>
          </p:cNvPr>
          <p:cNvSpPr/>
          <p:nvPr/>
        </p:nvSpPr>
        <p:spPr>
          <a:xfrm>
            <a:off x="548640" y="2514600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9B96AC4D-5B59-D85D-D38A-C19F6A54E111}"/>
              </a:ext>
            </a:extLst>
          </p:cNvPr>
          <p:cNvSpPr/>
          <p:nvPr/>
        </p:nvSpPr>
        <p:spPr>
          <a:xfrm>
            <a:off x="548640" y="2514600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7BB277DB-5622-3D17-1682-8F60FE3E3478}"/>
              </a:ext>
            </a:extLst>
          </p:cNvPr>
          <p:cNvSpPr/>
          <p:nvPr/>
        </p:nvSpPr>
        <p:spPr>
          <a:xfrm>
            <a:off x="806406" y="3831335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4E46933D-7C4B-0D30-BACF-6E88182610F4}"/>
              </a:ext>
            </a:extLst>
          </p:cNvPr>
          <p:cNvSpPr/>
          <p:nvPr/>
        </p:nvSpPr>
        <p:spPr>
          <a:xfrm>
            <a:off x="548640" y="3447288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B7B907BE-BC51-4AB4-B8A4-20DEE77940F0}"/>
              </a:ext>
            </a:extLst>
          </p:cNvPr>
          <p:cNvSpPr/>
          <p:nvPr/>
        </p:nvSpPr>
        <p:spPr>
          <a:xfrm>
            <a:off x="548640" y="3447288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3" name="Shape 18">
            <a:extLst>
              <a:ext uri="{FF2B5EF4-FFF2-40B4-BE49-F238E27FC236}">
                <a16:creationId xmlns:a16="http://schemas.microsoft.com/office/drawing/2014/main" id="{2E450D03-4413-BC7C-5D50-406E78B2314A}"/>
              </a:ext>
            </a:extLst>
          </p:cNvPr>
          <p:cNvSpPr/>
          <p:nvPr/>
        </p:nvSpPr>
        <p:spPr>
          <a:xfrm>
            <a:off x="806406" y="4764023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5" name="Shape 19">
            <a:extLst>
              <a:ext uri="{FF2B5EF4-FFF2-40B4-BE49-F238E27FC236}">
                <a16:creationId xmlns:a16="http://schemas.microsoft.com/office/drawing/2014/main" id="{BA7D83E5-CC1A-C77A-5F5A-2D0DE17B9F2C}"/>
              </a:ext>
            </a:extLst>
          </p:cNvPr>
          <p:cNvSpPr/>
          <p:nvPr/>
        </p:nvSpPr>
        <p:spPr>
          <a:xfrm>
            <a:off x="548640" y="4379976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85926687-B627-402E-8B70-6E813B233B74}"/>
              </a:ext>
            </a:extLst>
          </p:cNvPr>
          <p:cNvSpPr/>
          <p:nvPr/>
        </p:nvSpPr>
        <p:spPr>
          <a:xfrm>
            <a:off x="548640" y="4379976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9" name="Shape 23">
            <a:extLst>
              <a:ext uri="{FF2B5EF4-FFF2-40B4-BE49-F238E27FC236}">
                <a16:creationId xmlns:a16="http://schemas.microsoft.com/office/drawing/2014/main" id="{73AE7DC7-5747-9D7F-12CA-7CD494C2AF13}"/>
              </a:ext>
            </a:extLst>
          </p:cNvPr>
          <p:cNvSpPr/>
          <p:nvPr/>
        </p:nvSpPr>
        <p:spPr>
          <a:xfrm>
            <a:off x="548640" y="5312664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1" name="Text 24">
            <a:extLst>
              <a:ext uri="{FF2B5EF4-FFF2-40B4-BE49-F238E27FC236}">
                <a16:creationId xmlns:a16="http://schemas.microsoft.com/office/drawing/2014/main" id="{514AD59B-6257-F04E-0BE9-583329E945C9}"/>
              </a:ext>
            </a:extLst>
          </p:cNvPr>
          <p:cNvSpPr/>
          <p:nvPr/>
        </p:nvSpPr>
        <p:spPr>
          <a:xfrm>
            <a:off x="548640" y="5312664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A94DE6D7-E7FF-2876-E3C7-BD0A49657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-298273"/>
            <a:ext cx="3532094" cy="17384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5" name="Text 30">
            <a:extLst>
              <a:ext uri="{FF2B5EF4-FFF2-40B4-BE49-F238E27FC236}">
                <a16:creationId xmlns:a16="http://schemas.microsoft.com/office/drawing/2014/main" id="{789857EB-4B0E-324F-E5AC-894F0B72B8A6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 · SPRING BOOT</a:t>
            </a:r>
            <a:endParaRPr lang="en-US" sz="11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FEBB486-C726-6AC5-805A-3EF1CA71BAE5}"/>
              </a:ext>
            </a:extLst>
          </p:cNvPr>
          <p:cNvSpPr/>
          <p:nvPr/>
        </p:nvSpPr>
        <p:spPr>
          <a:xfrm>
            <a:off x="394447" y="1882588"/>
            <a:ext cx="5593977" cy="4464424"/>
          </a:xfrm>
          <a:custGeom>
            <a:avLst/>
            <a:gdLst>
              <a:gd name="csX0" fmla="*/ 0 w 5593977"/>
              <a:gd name="csY0" fmla="*/ 0 h 4464424"/>
              <a:gd name="csX1" fmla="*/ 5593977 w 5593977"/>
              <a:gd name="csY1" fmla="*/ 0 h 4464424"/>
              <a:gd name="csX2" fmla="*/ 5593977 w 5593977"/>
              <a:gd name="csY2" fmla="*/ 4464424 h 4464424"/>
              <a:gd name="csX3" fmla="*/ 0 w 5593977"/>
              <a:gd name="csY3" fmla="*/ 4464424 h 4464424"/>
              <a:gd name="csX4" fmla="*/ 0 w 5593977"/>
              <a:gd name="csY4" fmla="*/ 0 h 4464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3977" h="4464424" extrusionOk="0">
                <a:moveTo>
                  <a:pt x="0" y="0"/>
                </a:moveTo>
                <a:cubicBezTo>
                  <a:pt x="2559741" y="118645"/>
                  <a:pt x="4855588" y="116012"/>
                  <a:pt x="5593977" y="0"/>
                </a:cubicBezTo>
                <a:cubicBezTo>
                  <a:pt x="5461095" y="1164444"/>
                  <a:pt x="5678928" y="2994840"/>
                  <a:pt x="5593977" y="4464424"/>
                </a:cubicBezTo>
                <a:cubicBezTo>
                  <a:pt x="2926081" y="4599024"/>
                  <a:pt x="2263328" y="4307228"/>
                  <a:pt x="0" y="4464424"/>
                </a:cubicBezTo>
                <a:cubicBezTo>
                  <a:pt x="-20187" y="2308772"/>
                  <a:pt x="-152480" y="919621"/>
                  <a:pt x="0" y="0"/>
                </a:cubicBezTo>
                <a:close/>
              </a:path>
            </a:pathLst>
          </a:custGeom>
          <a:noFill/>
          <a:ln w="44450" cap="rnd">
            <a:solidFill>
              <a:schemeClr val="accent1">
                <a:shade val="15000"/>
                <a:alpha val="35000"/>
              </a:schemeClr>
            </a:solidFill>
            <a:prstDash val="sysDot"/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Balance Between Users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44168" y="1298448"/>
            <a:ext cx="10149840" cy="310896"/>
          </a:xfrm>
          <a:prstGeom prst="roundRect">
            <a:avLst>
              <a:gd name="adj" fmla="val 1764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1481328" y="12984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/api/v1/merchant/transfer/senderid/{senderID}/receiverid/{receiverID}/amount/{amount}</a:t>
            </a:r>
            <a:endParaRPr lang="en-US" sz="1400" b="1" dirty="0"/>
          </a:p>
        </p:txBody>
      </p:sp>
      <p:sp>
        <p:nvSpPr>
          <p:cNvPr id="10" name="Shape 8"/>
          <p:cNvSpPr/>
          <p:nvPr/>
        </p:nvSpPr>
        <p:spPr>
          <a:xfrm>
            <a:off x="800429" y="2898647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459736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accounts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88720" y="2734056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senderID and receiverID are distinct users.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429" y="3831335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7" name="Text 15"/>
          <p:cNvSpPr/>
          <p:nvPr/>
        </p:nvSpPr>
        <p:spPr>
          <a:xfrm>
            <a:off x="548640" y="3447288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392424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funds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88720" y="3666744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sender's balance covers the amount.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429" y="4764023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21" name="Shape 19"/>
          <p:cNvSpPr/>
          <p:nvPr/>
        </p:nvSpPr>
        <p:spPr>
          <a:xfrm>
            <a:off x="548640" y="4379976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548640" y="4379976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32511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sender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88720" y="4599432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amount from the sender's balance.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5312664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548640" y="5312664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52578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receiver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88720" y="553212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amount to the receiver's balance.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80960" y="251460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1B2A4A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8001000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RAILS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01000" y="3291840"/>
            <a:ext cx="33375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checks protect the transfer: sender ≠ receiver, and sender balance ≥ amount, both must pass before any balance is touched.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7/11</a:t>
            </a:r>
            <a:endParaRPr lang="en-US" sz="12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772AEB91-AB45-AFC6-5586-9D86FE5972A2}"/>
              </a:ext>
            </a:extLst>
          </p:cNvPr>
          <p:cNvSpPr/>
          <p:nvPr/>
        </p:nvSpPr>
        <p:spPr>
          <a:xfrm>
            <a:off x="548640" y="20711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2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32C1B98-6B59-896E-C606-ECA586760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-298273"/>
            <a:ext cx="3532094" cy="17384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Text 30">
            <a:extLst>
              <a:ext uri="{FF2B5EF4-FFF2-40B4-BE49-F238E27FC236}">
                <a16:creationId xmlns:a16="http://schemas.microsoft.com/office/drawing/2014/main" id="{C8F3653A-5AF8-DB08-BA98-D6C9D406D535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 · SPRING BOOT</a:t>
            </a:r>
            <a:endParaRPr lang="en-US" sz="11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A389FB-9083-BFAF-00E8-31D62AC63685}"/>
              </a:ext>
            </a:extLst>
          </p:cNvPr>
          <p:cNvSpPr/>
          <p:nvPr/>
        </p:nvSpPr>
        <p:spPr>
          <a:xfrm>
            <a:off x="394447" y="1882588"/>
            <a:ext cx="5593977" cy="4464424"/>
          </a:xfrm>
          <a:custGeom>
            <a:avLst/>
            <a:gdLst>
              <a:gd name="csX0" fmla="*/ 0 w 5593977"/>
              <a:gd name="csY0" fmla="*/ 0 h 4464424"/>
              <a:gd name="csX1" fmla="*/ 5593977 w 5593977"/>
              <a:gd name="csY1" fmla="*/ 0 h 4464424"/>
              <a:gd name="csX2" fmla="*/ 5593977 w 5593977"/>
              <a:gd name="csY2" fmla="*/ 4464424 h 4464424"/>
              <a:gd name="csX3" fmla="*/ 0 w 5593977"/>
              <a:gd name="csY3" fmla="*/ 4464424 h 4464424"/>
              <a:gd name="csX4" fmla="*/ 0 w 5593977"/>
              <a:gd name="csY4" fmla="*/ 0 h 4464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3977" h="4464424" extrusionOk="0">
                <a:moveTo>
                  <a:pt x="0" y="0"/>
                </a:moveTo>
                <a:cubicBezTo>
                  <a:pt x="2559741" y="118645"/>
                  <a:pt x="4855588" y="116012"/>
                  <a:pt x="5593977" y="0"/>
                </a:cubicBezTo>
                <a:cubicBezTo>
                  <a:pt x="5461095" y="1164444"/>
                  <a:pt x="5678928" y="2994840"/>
                  <a:pt x="5593977" y="4464424"/>
                </a:cubicBezTo>
                <a:cubicBezTo>
                  <a:pt x="2926081" y="4599024"/>
                  <a:pt x="2263328" y="4307228"/>
                  <a:pt x="0" y="4464424"/>
                </a:cubicBezTo>
                <a:cubicBezTo>
                  <a:pt x="-20187" y="2308772"/>
                  <a:pt x="-152480" y="919621"/>
                  <a:pt x="0" y="0"/>
                </a:cubicBezTo>
                <a:close/>
              </a:path>
            </a:pathLst>
          </a:custGeom>
          <a:noFill/>
          <a:ln w="44450" cap="rnd">
            <a:solidFill>
              <a:srgbClr val="E8A33D"/>
            </a:solidFill>
            <a:prstDash val="sysDot"/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Shipping Duration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E7C8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44168" y="1298448"/>
            <a:ext cx="10149840" cy="310896"/>
          </a:xfrm>
          <a:prstGeom prst="roundRect">
            <a:avLst>
              <a:gd name="adj" fmla="val 1764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1481328" y="12984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/api/v1/merchant/shipping-duration/userid/{userID}/productid/{productID}/merchantid/{merchantID}/user-region/{userRegion}/merchant-region/{merchantRegion}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1188720" y="2459736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stock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88720" y="2734056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merchant has the product in stock.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92424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regions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88720" y="3666744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userRegion against merchantRegion.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32511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duration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88720" y="4599432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region → 2 days. Different region → 5 days.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578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estimate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88720" y="553212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the calculated business-day estimate.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80960" y="251460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1B2A4A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8001000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RULE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01000" y="3291840"/>
            <a:ext cx="349300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regions: 2 business days.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Differing regions: 5 business days.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</a:t>
            </a:r>
            <a:endParaRPr lang="en-US" sz="1200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9F716BB4-B2DB-6007-F166-B36851834B9F}"/>
              </a:ext>
            </a:extLst>
          </p:cNvPr>
          <p:cNvSpPr/>
          <p:nvPr/>
        </p:nvSpPr>
        <p:spPr>
          <a:xfrm>
            <a:off x="548640" y="20711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2000" dirty="0"/>
          </a:p>
        </p:txBody>
      </p:sp>
      <p:sp>
        <p:nvSpPr>
          <p:cNvPr id="63" name="Shape 8">
            <a:extLst>
              <a:ext uri="{FF2B5EF4-FFF2-40B4-BE49-F238E27FC236}">
                <a16:creationId xmlns:a16="http://schemas.microsoft.com/office/drawing/2014/main" id="{6048A95E-EEED-0C0E-85C3-4CD6C6A5A005}"/>
              </a:ext>
            </a:extLst>
          </p:cNvPr>
          <p:cNvSpPr/>
          <p:nvPr/>
        </p:nvSpPr>
        <p:spPr>
          <a:xfrm>
            <a:off x="806406" y="2898647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5" name="Shape 9">
            <a:extLst>
              <a:ext uri="{FF2B5EF4-FFF2-40B4-BE49-F238E27FC236}">
                <a16:creationId xmlns:a16="http://schemas.microsoft.com/office/drawing/2014/main" id="{4CEC2FFB-C0DC-6D4A-9D9B-5DF8D03C10A3}"/>
              </a:ext>
            </a:extLst>
          </p:cNvPr>
          <p:cNvSpPr/>
          <p:nvPr/>
        </p:nvSpPr>
        <p:spPr>
          <a:xfrm>
            <a:off x="548640" y="2514600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B37BA6C3-99C9-E783-75BD-A4F53161941A}"/>
              </a:ext>
            </a:extLst>
          </p:cNvPr>
          <p:cNvSpPr/>
          <p:nvPr/>
        </p:nvSpPr>
        <p:spPr>
          <a:xfrm>
            <a:off x="548640" y="2514600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9" name="Shape 13">
            <a:extLst>
              <a:ext uri="{FF2B5EF4-FFF2-40B4-BE49-F238E27FC236}">
                <a16:creationId xmlns:a16="http://schemas.microsoft.com/office/drawing/2014/main" id="{C115674F-1AD9-70AB-E754-FB7FA94EA180}"/>
              </a:ext>
            </a:extLst>
          </p:cNvPr>
          <p:cNvSpPr/>
          <p:nvPr/>
        </p:nvSpPr>
        <p:spPr>
          <a:xfrm>
            <a:off x="806406" y="3831335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BE37CC48-7C24-35A0-891A-CF82EB93EDB4}"/>
              </a:ext>
            </a:extLst>
          </p:cNvPr>
          <p:cNvSpPr/>
          <p:nvPr/>
        </p:nvSpPr>
        <p:spPr>
          <a:xfrm>
            <a:off x="548640" y="3447288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3" name="Text 15">
            <a:extLst>
              <a:ext uri="{FF2B5EF4-FFF2-40B4-BE49-F238E27FC236}">
                <a16:creationId xmlns:a16="http://schemas.microsoft.com/office/drawing/2014/main" id="{35563F3D-2E13-262A-E807-3084444A4A25}"/>
              </a:ext>
            </a:extLst>
          </p:cNvPr>
          <p:cNvSpPr/>
          <p:nvPr/>
        </p:nvSpPr>
        <p:spPr>
          <a:xfrm>
            <a:off x="548640" y="3447288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5" name="Shape 18">
            <a:extLst>
              <a:ext uri="{FF2B5EF4-FFF2-40B4-BE49-F238E27FC236}">
                <a16:creationId xmlns:a16="http://schemas.microsoft.com/office/drawing/2014/main" id="{BC97BF6D-D2D8-EDFD-1BD7-9AA7A456394A}"/>
              </a:ext>
            </a:extLst>
          </p:cNvPr>
          <p:cNvSpPr/>
          <p:nvPr/>
        </p:nvSpPr>
        <p:spPr>
          <a:xfrm>
            <a:off x="806406" y="4764023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7" name="Shape 19">
            <a:extLst>
              <a:ext uri="{FF2B5EF4-FFF2-40B4-BE49-F238E27FC236}">
                <a16:creationId xmlns:a16="http://schemas.microsoft.com/office/drawing/2014/main" id="{7AFA4B59-7C68-ACE8-4445-A0E82C6B10CE}"/>
              </a:ext>
            </a:extLst>
          </p:cNvPr>
          <p:cNvSpPr/>
          <p:nvPr/>
        </p:nvSpPr>
        <p:spPr>
          <a:xfrm>
            <a:off x="548640" y="4379976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5122CAD5-A074-3EE2-8286-19125EC779B6}"/>
              </a:ext>
            </a:extLst>
          </p:cNvPr>
          <p:cNvSpPr/>
          <p:nvPr/>
        </p:nvSpPr>
        <p:spPr>
          <a:xfrm>
            <a:off x="548640" y="4379976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1" name="Shape 23">
            <a:extLst>
              <a:ext uri="{FF2B5EF4-FFF2-40B4-BE49-F238E27FC236}">
                <a16:creationId xmlns:a16="http://schemas.microsoft.com/office/drawing/2014/main" id="{574581F9-A7BA-8348-B44C-AF4D7C6B3838}"/>
              </a:ext>
            </a:extLst>
          </p:cNvPr>
          <p:cNvSpPr/>
          <p:nvPr/>
        </p:nvSpPr>
        <p:spPr>
          <a:xfrm>
            <a:off x="548640" y="5312664"/>
            <a:ext cx="515172" cy="502920"/>
          </a:xfrm>
          <a:prstGeom prst="ellipse">
            <a:avLst/>
          </a:prstGeom>
          <a:solidFill>
            <a:srgbClr val="3E7C8C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3" name="Text 24">
            <a:extLst>
              <a:ext uri="{FF2B5EF4-FFF2-40B4-BE49-F238E27FC236}">
                <a16:creationId xmlns:a16="http://schemas.microsoft.com/office/drawing/2014/main" id="{FB371DC9-4D7C-0198-5042-7B694B118423}"/>
              </a:ext>
            </a:extLst>
          </p:cNvPr>
          <p:cNvSpPr/>
          <p:nvPr/>
        </p:nvSpPr>
        <p:spPr>
          <a:xfrm>
            <a:off x="548640" y="5312664"/>
            <a:ext cx="515172" cy="502920"/>
          </a:xfrm>
          <a:prstGeom prst="rect">
            <a:avLst/>
          </a:prstGeom>
          <a:noFill/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CA29B500-8867-575E-4921-BC3572E7E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-298273"/>
            <a:ext cx="3532094" cy="17384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 30">
            <a:extLst>
              <a:ext uri="{FF2B5EF4-FFF2-40B4-BE49-F238E27FC236}">
                <a16:creationId xmlns:a16="http://schemas.microsoft.com/office/drawing/2014/main" id="{5BCF90EC-C0FA-99DF-FCD8-3162D66DA4B3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 · SPRING BOOT</a:t>
            </a:r>
            <a:endParaRPr lang="en-US" sz="1100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E65F1DE-0F42-404F-A268-33101349F54B}"/>
              </a:ext>
            </a:extLst>
          </p:cNvPr>
          <p:cNvSpPr/>
          <p:nvPr/>
        </p:nvSpPr>
        <p:spPr>
          <a:xfrm>
            <a:off x="394447" y="1882588"/>
            <a:ext cx="5593977" cy="4464424"/>
          </a:xfrm>
          <a:custGeom>
            <a:avLst/>
            <a:gdLst>
              <a:gd name="csX0" fmla="*/ 0 w 5593977"/>
              <a:gd name="csY0" fmla="*/ 0 h 4464424"/>
              <a:gd name="csX1" fmla="*/ 5593977 w 5593977"/>
              <a:gd name="csY1" fmla="*/ 0 h 4464424"/>
              <a:gd name="csX2" fmla="*/ 5593977 w 5593977"/>
              <a:gd name="csY2" fmla="*/ 4464424 h 4464424"/>
              <a:gd name="csX3" fmla="*/ 0 w 5593977"/>
              <a:gd name="csY3" fmla="*/ 4464424 h 4464424"/>
              <a:gd name="csX4" fmla="*/ 0 w 5593977"/>
              <a:gd name="csY4" fmla="*/ 0 h 4464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3977" h="4464424" extrusionOk="0">
                <a:moveTo>
                  <a:pt x="0" y="0"/>
                </a:moveTo>
                <a:cubicBezTo>
                  <a:pt x="2559741" y="118645"/>
                  <a:pt x="4855588" y="116012"/>
                  <a:pt x="5593977" y="0"/>
                </a:cubicBezTo>
                <a:cubicBezTo>
                  <a:pt x="5461095" y="1164444"/>
                  <a:pt x="5678928" y="2994840"/>
                  <a:pt x="5593977" y="4464424"/>
                </a:cubicBezTo>
                <a:cubicBezTo>
                  <a:pt x="2926081" y="4599024"/>
                  <a:pt x="2263328" y="4307228"/>
                  <a:pt x="0" y="4464424"/>
                </a:cubicBezTo>
                <a:cubicBezTo>
                  <a:pt x="-20187" y="2308772"/>
                  <a:pt x="-152480" y="919621"/>
                  <a:pt x="0" y="0"/>
                </a:cubicBezTo>
                <a:close/>
              </a:path>
            </a:pathLst>
          </a:custGeom>
          <a:noFill/>
          <a:ln w="44450" cap="rnd">
            <a:solidFill>
              <a:schemeClr val="accent1">
                <a:shade val="15000"/>
                <a:alpha val="35000"/>
              </a:schemeClr>
            </a:solidFill>
            <a:prstDash val="sysDot"/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7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Refund Item (Unused/Used)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44168" y="1298448"/>
            <a:ext cx="10149840" cy="310896"/>
          </a:xfrm>
          <a:prstGeom prst="roundRect">
            <a:avLst>
              <a:gd name="adj" fmla="val 1764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1481328" y="12984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/api/v1/merchant/refund/userid/{userID}/productid/{productID}/merchantid/{merchantID}/condition/{condition}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1188720" y="2459736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request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88720" y="2734056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user, product, and merchant all exist.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92424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condition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88720" y="3666744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condition is “unused” or “used”.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32511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refund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88720" y="4599432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→ 80% of price. Used → 50% of price.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578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88720" y="553212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user.balance and restore +1 to merchant stock.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80960" y="251460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1B2A4A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8001000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RATES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01000" y="3291840"/>
            <a:ext cx="33375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condition: 80% refund.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condition: 50% refund.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always restored by +1.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120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0476DF8-32A1-A8D0-BF0B-BBC7C89B4DA0}"/>
              </a:ext>
            </a:extLst>
          </p:cNvPr>
          <p:cNvSpPr/>
          <p:nvPr/>
        </p:nvSpPr>
        <p:spPr>
          <a:xfrm>
            <a:off x="548640" y="20711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2000" dirty="0"/>
          </a:p>
        </p:txBody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E81DBB96-1191-D7AE-5D05-AC30BCE6AA94}"/>
              </a:ext>
            </a:extLst>
          </p:cNvPr>
          <p:cNvSpPr/>
          <p:nvPr/>
        </p:nvSpPr>
        <p:spPr>
          <a:xfrm>
            <a:off x="800429" y="2898647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5" name="Shape 9">
            <a:extLst>
              <a:ext uri="{FF2B5EF4-FFF2-40B4-BE49-F238E27FC236}">
                <a16:creationId xmlns:a16="http://schemas.microsoft.com/office/drawing/2014/main" id="{A69AB014-34B1-329B-6185-4A5A57B283AA}"/>
              </a:ext>
            </a:extLst>
          </p:cNvPr>
          <p:cNvSpPr/>
          <p:nvPr/>
        </p:nvSpPr>
        <p:spPr>
          <a:xfrm>
            <a:off x="548640" y="2514600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7" name="Text 10">
            <a:extLst>
              <a:ext uri="{FF2B5EF4-FFF2-40B4-BE49-F238E27FC236}">
                <a16:creationId xmlns:a16="http://schemas.microsoft.com/office/drawing/2014/main" id="{F6450130-F2AA-A196-6A4E-387DAB2E7BA8}"/>
              </a:ext>
            </a:extLst>
          </p:cNvPr>
          <p:cNvSpPr/>
          <p:nvPr/>
        </p:nvSpPr>
        <p:spPr>
          <a:xfrm>
            <a:off x="548640" y="2514600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9" name="Shape 13">
            <a:extLst>
              <a:ext uri="{FF2B5EF4-FFF2-40B4-BE49-F238E27FC236}">
                <a16:creationId xmlns:a16="http://schemas.microsoft.com/office/drawing/2014/main" id="{536B4F8B-FC3C-CCBE-8C5E-7C0A8866B0D3}"/>
              </a:ext>
            </a:extLst>
          </p:cNvPr>
          <p:cNvSpPr/>
          <p:nvPr/>
        </p:nvSpPr>
        <p:spPr>
          <a:xfrm>
            <a:off x="800429" y="3831335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1" name="Shape 14">
            <a:extLst>
              <a:ext uri="{FF2B5EF4-FFF2-40B4-BE49-F238E27FC236}">
                <a16:creationId xmlns:a16="http://schemas.microsoft.com/office/drawing/2014/main" id="{A0E58F1E-41BC-15A2-486A-68C5158CA331}"/>
              </a:ext>
            </a:extLst>
          </p:cNvPr>
          <p:cNvSpPr/>
          <p:nvPr/>
        </p:nvSpPr>
        <p:spPr>
          <a:xfrm>
            <a:off x="548640" y="3447288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93" name="Text 15">
            <a:extLst>
              <a:ext uri="{FF2B5EF4-FFF2-40B4-BE49-F238E27FC236}">
                <a16:creationId xmlns:a16="http://schemas.microsoft.com/office/drawing/2014/main" id="{3FF2E76C-5B0D-FF34-58A9-97C40C6030C8}"/>
              </a:ext>
            </a:extLst>
          </p:cNvPr>
          <p:cNvSpPr/>
          <p:nvPr/>
        </p:nvSpPr>
        <p:spPr>
          <a:xfrm>
            <a:off x="548640" y="3447288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5" name="Shape 18">
            <a:extLst>
              <a:ext uri="{FF2B5EF4-FFF2-40B4-BE49-F238E27FC236}">
                <a16:creationId xmlns:a16="http://schemas.microsoft.com/office/drawing/2014/main" id="{C3E5F539-E3A3-CC11-6373-F7BE76EF5E4F}"/>
              </a:ext>
            </a:extLst>
          </p:cNvPr>
          <p:cNvSpPr/>
          <p:nvPr/>
        </p:nvSpPr>
        <p:spPr>
          <a:xfrm>
            <a:off x="800429" y="4764023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97" name="Shape 19">
            <a:extLst>
              <a:ext uri="{FF2B5EF4-FFF2-40B4-BE49-F238E27FC236}">
                <a16:creationId xmlns:a16="http://schemas.microsoft.com/office/drawing/2014/main" id="{CA3B1AA5-7FED-D3BE-7DAC-E7A5C04E066B}"/>
              </a:ext>
            </a:extLst>
          </p:cNvPr>
          <p:cNvSpPr/>
          <p:nvPr/>
        </p:nvSpPr>
        <p:spPr>
          <a:xfrm>
            <a:off x="548640" y="4379976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99" name="Text 20">
            <a:extLst>
              <a:ext uri="{FF2B5EF4-FFF2-40B4-BE49-F238E27FC236}">
                <a16:creationId xmlns:a16="http://schemas.microsoft.com/office/drawing/2014/main" id="{43693EAD-4950-B77A-FA1D-61DA4A5B649C}"/>
              </a:ext>
            </a:extLst>
          </p:cNvPr>
          <p:cNvSpPr/>
          <p:nvPr/>
        </p:nvSpPr>
        <p:spPr>
          <a:xfrm>
            <a:off x="548640" y="4379976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01" name="Shape 23">
            <a:extLst>
              <a:ext uri="{FF2B5EF4-FFF2-40B4-BE49-F238E27FC236}">
                <a16:creationId xmlns:a16="http://schemas.microsoft.com/office/drawing/2014/main" id="{6260FB07-02FB-9937-AEDA-0FFFB9DC8B9F}"/>
              </a:ext>
            </a:extLst>
          </p:cNvPr>
          <p:cNvSpPr/>
          <p:nvPr/>
        </p:nvSpPr>
        <p:spPr>
          <a:xfrm>
            <a:off x="548640" y="5312664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3" name="Text 24">
            <a:extLst>
              <a:ext uri="{FF2B5EF4-FFF2-40B4-BE49-F238E27FC236}">
                <a16:creationId xmlns:a16="http://schemas.microsoft.com/office/drawing/2014/main" id="{798BAEA9-D0C7-B5E7-FF9B-BFEFFDDB9858}"/>
              </a:ext>
            </a:extLst>
          </p:cNvPr>
          <p:cNvSpPr/>
          <p:nvPr/>
        </p:nvSpPr>
        <p:spPr>
          <a:xfrm>
            <a:off x="548640" y="5312664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01E835E1-46DE-FD8D-A56F-39E7F7227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-298273"/>
            <a:ext cx="3532094" cy="17384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7" name="Text 30">
            <a:extLst>
              <a:ext uri="{FF2B5EF4-FFF2-40B4-BE49-F238E27FC236}">
                <a16:creationId xmlns:a16="http://schemas.microsoft.com/office/drawing/2014/main" id="{B900DEEB-A706-87BF-D590-EA7FA33CAA69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 · SPRING BOOT</a:t>
            </a:r>
            <a:endParaRPr lang="en-US" sz="11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F6E6A8C-15BC-4592-DFA2-911903A15A65}"/>
              </a:ext>
            </a:extLst>
          </p:cNvPr>
          <p:cNvSpPr/>
          <p:nvPr/>
        </p:nvSpPr>
        <p:spPr>
          <a:xfrm>
            <a:off x="394447" y="1882588"/>
            <a:ext cx="5593977" cy="4464424"/>
          </a:xfrm>
          <a:custGeom>
            <a:avLst/>
            <a:gdLst>
              <a:gd name="csX0" fmla="*/ 0 w 5593977"/>
              <a:gd name="csY0" fmla="*/ 0 h 4464424"/>
              <a:gd name="csX1" fmla="*/ 5593977 w 5593977"/>
              <a:gd name="csY1" fmla="*/ 0 h 4464424"/>
              <a:gd name="csX2" fmla="*/ 5593977 w 5593977"/>
              <a:gd name="csY2" fmla="*/ 4464424 h 4464424"/>
              <a:gd name="csX3" fmla="*/ 0 w 5593977"/>
              <a:gd name="csY3" fmla="*/ 4464424 h 4464424"/>
              <a:gd name="csX4" fmla="*/ 0 w 5593977"/>
              <a:gd name="csY4" fmla="*/ 0 h 4464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3977" h="4464424" extrusionOk="0">
                <a:moveTo>
                  <a:pt x="0" y="0"/>
                </a:moveTo>
                <a:cubicBezTo>
                  <a:pt x="2559741" y="118645"/>
                  <a:pt x="4855588" y="116012"/>
                  <a:pt x="5593977" y="0"/>
                </a:cubicBezTo>
                <a:cubicBezTo>
                  <a:pt x="5461095" y="1164444"/>
                  <a:pt x="5678928" y="2994840"/>
                  <a:pt x="5593977" y="4464424"/>
                </a:cubicBezTo>
                <a:cubicBezTo>
                  <a:pt x="2926081" y="4599024"/>
                  <a:pt x="2263328" y="4307228"/>
                  <a:pt x="0" y="4464424"/>
                </a:cubicBezTo>
                <a:cubicBezTo>
                  <a:pt x="-20187" y="2308772"/>
                  <a:pt x="-152480" y="919621"/>
                  <a:pt x="0" y="0"/>
                </a:cubicBezTo>
                <a:close/>
              </a:path>
            </a:pathLst>
          </a:custGeom>
          <a:noFill/>
          <a:ln w="44450" cap="rnd">
            <a:solidFill>
              <a:srgbClr val="E8A33D"/>
            </a:solidFill>
            <a:prstDash val="sysDot"/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8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Redeem Coupon 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44168" y="1298448"/>
            <a:ext cx="10149840" cy="310896"/>
          </a:xfrm>
          <a:prstGeom prst="roundRect">
            <a:avLst>
              <a:gd name="adj" fmla="val 1764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1481328" y="12984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/api/v1/merchant/apply-discount/{userID}/{code}</a:t>
            </a:r>
            <a:endParaRPr lang="en-US" sz="1600" b="1" dirty="0"/>
          </a:p>
        </p:txBody>
      </p:sp>
      <p:sp>
        <p:nvSpPr>
          <p:cNvPr id="13" name="Text 11"/>
          <p:cNvSpPr/>
          <p:nvPr/>
        </p:nvSpPr>
        <p:spPr>
          <a:xfrm>
            <a:off x="1188720" y="2459736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88720" y="2734056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Read userID and the promo code from the path.</a:t>
            </a:r>
          </a:p>
        </p:txBody>
      </p:sp>
      <p:sp>
        <p:nvSpPr>
          <p:cNvPr id="18" name="Text 16"/>
          <p:cNvSpPr/>
          <p:nvPr/>
        </p:nvSpPr>
        <p:spPr>
          <a:xfrm>
            <a:off x="1188720" y="3392424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code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88720" y="3666744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Check the code against the known promo list.</a:t>
            </a:r>
          </a:p>
        </p:txBody>
      </p:sp>
      <p:sp>
        <p:nvSpPr>
          <p:cNvPr id="23" name="Text 21"/>
          <p:cNvSpPr/>
          <p:nvPr/>
        </p:nvSpPr>
        <p:spPr>
          <a:xfrm>
            <a:off x="1188720" y="432511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credit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88720" y="4599432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Map the valid code to its discount value.</a:t>
            </a:r>
          </a:p>
        </p:txBody>
      </p:sp>
      <p:sp>
        <p:nvSpPr>
          <p:cNvPr id="27" name="Text 25"/>
          <p:cNvSpPr/>
          <p:nvPr/>
        </p:nvSpPr>
        <p:spPr>
          <a:xfrm>
            <a:off x="1188720" y="52578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credit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88720" y="553212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/>
              <a:t>Add the discount amount to user.balance.</a:t>
            </a:r>
          </a:p>
        </p:txBody>
      </p:sp>
      <p:sp>
        <p:nvSpPr>
          <p:cNvPr id="29" name="Shape 27"/>
          <p:cNvSpPr/>
          <p:nvPr/>
        </p:nvSpPr>
        <p:spPr>
          <a:xfrm>
            <a:off x="7680960" y="251460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1B2A4A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8001000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CODES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01000" y="3291840"/>
            <a:ext cx="349300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student10 →  10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riyadh20 →  20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tuwaiq50 →  50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matching is case-insensitive.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02F9F24-3E42-E71C-CD17-E64E6721F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071937"/>
            <a:ext cx="450387" cy="22167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566D835-D695-FD11-BA9C-A80BC0DC7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586" y="3735962"/>
            <a:ext cx="450387" cy="2216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8AFA694-1D1C-30EF-01D6-AFD13E435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498" y="3399987"/>
            <a:ext cx="450387" cy="221675"/>
          </a:xfrm>
          <a:prstGeom prst="rect">
            <a:avLst/>
          </a:prstGeom>
        </p:spPr>
      </p:pic>
      <p:sp>
        <p:nvSpPr>
          <p:cNvPr id="65" name="Text 7">
            <a:extLst>
              <a:ext uri="{FF2B5EF4-FFF2-40B4-BE49-F238E27FC236}">
                <a16:creationId xmlns:a16="http://schemas.microsoft.com/office/drawing/2014/main" id="{E2200B1B-9A73-FFA0-50AE-50E76D27A886}"/>
              </a:ext>
            </a:extLst>
          </p:cNvPr>
          <p:cNvSpPr/>
          <p:nvPr/>
        </p:nvSpPr>
        <p:spPr>
          <a:xfrm>
            <a:off x="548640" y="20711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2000" dirty="0"/>
          </a:p>
        </p:txBody>
      </p:sp>
      <p:sp>
        <p:nvSpPr>
          <p:cNvPr id="67" name="Shape 8">
            <a:extLst>
              <a:ext uri="{FF2B5EF4-FFF2-40B4-BE49-F238E27FC236}">
                <a16:creationId xmlns:a16="http://schemas.microsoft.com/office/drawing/2014/main" id="{5919BC84-24F5-54F2-47A0-CB940623FD11}"/>
              </a:ext>
            </a:extLst>
          </p:cNvPr>
          <p:cNvSpPr/>
          <p:nvPr/>
        </p:nvSpPr>
        <p:spPr>
          <a:xfrm>
            <a:off x="800429" y="2898647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9" name="Shape 9">
            <a:extLst>
              <a:ext uri="{FF2B5EF4-FFF2-40B4-BE49-F238E27FC236}">
                <a16:creationId xmlns:a16="http://schemas.microsoft.com/office/drawing/2014/main" id="{27159852-7E97-FFD6-EAD8-64C650427A1D}"/>
              </a:ext>
            </a:extLst>
          </p:cNvPr>
          <p:cNvSpPr/>
          <p:nvPr/>
        </p:nvSpPr>
        <p:spPr>
          <a:xfrm>
            <a:off x="548640" y="2514600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AA3E4C30-64CC-4137-0340-2CFCFD9C08E9}"/>
              </a:ext>
            </a:extLst>
          </p:cNvPr>
          <p:cNvSpPr/>
          <p:nvPr/>
        </p:nvSpPr>
        <p:spPr>
          <a:xfrm>
            <a:off x="548640" y="2514600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3" name="Shape 13">
            <a:extLst>
              <a:ext uri="{FF2B5EF4-FFF2-40B4-BE49-F238E27FC236}">
                <a16:creationId xmlns:a16="http://schemas.microsoft.com/office/drawing/2014/main" id="{DCCB9217-F9C0-CDDD-0FB9-C30E7341A74D}"/>
              </a:ext>
            </a:extLst>
          </p:cNvPr>
          <p:cNvSpPr/>
          <p:nvPr/>
        </p:nvSpPr>
        <p:spPr>
          <a:xfrm>
            <a:off x="800429" y="3831335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5" name="Shape 14">
            <a:extLst>
              <a:ext uri="{FF2B5EF4-FFF2-40B4-BE49-F238E27FC236}">
                <a16:creationId xmlns:a16="http://schemas.microsoft.com/office/drawing/2014/main" id="{32DD51EB-6A9C-8D2E-0ABE-38AA3F262538}"/>
              </a:ext>
            </a:extLst>
          </p:cNvPr>
          <p:cNvSpPr/>
          <p:nvPr/>
        </p:nvSpPr>
        <p:spPr>
          <a:xfrm>
            <a:off x="548640" y="3447288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7" name="Text 15">
            <a:extLst>
              <a:ext uri="{FF2B5EF4-FFF2-40B4-BE49-F238E27FC236}">
                <a16:creationId xmlns:a16="http://schemas.microsoft.com/office/drawing/2014/main" id="{7C32CB05-BBEF-9356-E5DD-DEADDFB301C6}"/>
              </a:ext>
            </a:extLst>
          </p:cNvPr>
          <p:cNvSpPr/>
          <p:nvPr/>
        </p:nvSpPr>
        <p:spPr>
          <a:xfrm>
            <a:off x="548640" y="3447288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9" name="Shape 18">
            <a:extLst>
              <a:ext uri="{FF2B5EF4-FFF2-40B4-BE49-F238E27FC236}">
                <a16:creationId xmlns:a16="http://schemas.microsoft.com/office/drawing/2014/main" id="{CE566914-407D-7DB5-12CD-BDA1D626D352}"/>
              </a:ext>
            </a:extLst>
          </p:cNvPr>
          <p:cNvSpPr/>
          <p:nvPr/>
        </p:nvSpPr>
        <p:spPr>
          <a:xfrm>
            <a:off x="800429" y="4764023"/>
            <a:ext cx="0" cy="718457"/>
          </a:xfrm>
          <a:prstGeom prst="line">
            <a:avLst/>
          </a:prstGeom>
          <a:noFill/>
          <a:ln w="254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81" name="Shape 19">
            <a:extLst>
              <a:ext uri="{FF2B5EF4-FFF2-40B4-BE49-F238E27FC236}">
                <a16:creationId xmlns:a16="http://schemas.microsoft.com/office/drawing/2014/main" id="{D3A63B7F-1793-3150-7E29-D53B639CCA8F}"/>
              </a:ext>
            </a:extLst>
          </p:cNvPr>
          <p:cNvSpPr/>
          <p:nvPr/>
        </p:nvSpPr>
        <p:spPr>
          <a:xfrm>
            <a:off x="548640" y="4379976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3" name="Text 20">
            <a:extLst>
              <a:ext uri="{FF2B5EF4-FFF2-40B4-BE49-F238E27FC236}">
                <a16:creationId xmlns:a16="http://schemas.microsoft.com/office/drawing/2014/main" id="{265515AA-B45D-6E6D-8CF0-D381667406F5}"/>
              </a:ext>
            </a:extLst>
          </p:cNvPr>
          <p:cNvSpPr/>
          <p:nvPr/>
        </p:nvSpPr>
        <p:spPr>
          <a:xfrm>
            <a:off x="548640" y="4379976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5" name="Shape 23">
            <a:extLst>
              <a:ext uri="{FF2B5EF4-FFF2-40B4-BE49-F238E27FC236}">
                <a16:creationId xmlns:a16="http://schemas.microsoft.com/office/drawing/2014/main" id="{69010753-FE85-75E4-7A32-4F0FD5A4BC81}"/>
              </a:ext>
            </a:extLst>
          </p:cNvPr>
          <p:cNvSpPr/>
          <p:nvPr/>
        </p:nvSpPr>
        <p:spPr>
          <a:xfrm>
            <a:off x="548640" y="5312664"/>
            <a:ext cx="491266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7" name="Text 24">
            <a:extLst>
              <a:ext uri="{FF2B5EF4-FFF2-40B4-BE49-F238E27FC236}">
                <a16:creationId xmlns:a16="http://schemas.microsoft.com/office/drawing/2014/main" id="{62550C4C-49F7-BC4C-EC44-41E6D223776A}"/>
              </a:ext>
            </a:extLst>
          </p:cNvPr>
          <p:cNvSpPr/>
          <p:nvPr/>
        </p:nvSpPr>
        <p:spPr>
          <a:xfrm>
            <a:off x="548640" y="5312664"/>
            <a:ext cx="491266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46F3E38A-452A-8792-789C-56633C97A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260" y="-298273"/>
            <a:ext cx="3532094" cy="17384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1" name="Text 30">
            <a:extLst>
              <a:ext uri="{FF2B5EF4-FFF2-40B4-BE49-F238E27FC236}">
                <a16:creationId xmlns:a16="http://schemas.microsoft.com/office/drawing/2014/main" id="{C552A601-DB91-1EDE-D3B4-098C17ACECFB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API · SPRING BOOT</a:t>
            </a:r>
            <a:endParaRPr lang="en-US" sz="1100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5006BE6-2BAF-D27B-A9F2-43A61C201CDA}"/>
              </a:ext>
            </a:extLst>
          </p:cNvPr>
          <p:cNvSpPr/>
          <p:nvPr/>
        </p:nvSpPr>
        <p:spPr>
          <a:xfrm>
            <a:off x="394447" y="1882588"/>
            <a:ext cx="5593977" cy="4464424"/>
          </a:xfrm>
          <a:custGeom>
            <a:avLst/>
            <a:gdLst>
              <a:gd name="csX0" fmla="*/ 0 w 5593977"/>
              <a:gd name="csY0" fmla="*/ 0 h 4464424"/>
              <a:gd name="csX1" fmla="*/ 5593977 w 5593977"/>
              <a:gd name="csY1" fmla="*/ 0 h 4464424"/>
              <a:gd name="csX2" fmla="*/ 5593977 w 5593977"/>
              <a:gd name="csY2" fmla="*/ 4464424 h 4464424"/>
              <a:gd name="csX3" fmla="*/ 0 w 5593977"/>
              <a:gd name="csY3" fmla="*/ 4464424 h 4464424"/>
              <a:gd name="csX4" fmla="*/ 0 w 5593977"/>
              <a:gd name="csY4" fmla="*/ 0 h 4464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3977" h="4464424" extrusionOk="0">
                <a:moveTo>
                  <a:pt x="0" y="0"/>
                </a:moveTo>
                <a:cubicBezTo>
                  <a:pt x="2559741" y="118645"/>
                  <a:pt x="4855588" y="116012"/>
                  <a:pt x="5593977" y="0"/>
                </a:cubicBezTo>
                <a:cubicBezTo>
                  <a:pt x="5461095" y="1164444"/>
                  <a:pt x="5678928" y="2994840"/>
                  <a:pt x="5593977" y="4464424"/>
                </a:cubicBezTo>
                <a:cubicBezTo>
                  <a:pt x="2926081" y="4599024"/>
                  <a:pt x="2263328" y="4307228"/>
                  <a:pt x="0" y="4464424"/>
                </a:cubicBezTo>
                <a:cubicBezTo>
                  <a:pt x="-20187" y="2308772"/>
                  <a:pt x="-152480" y="919621"/>
                  <a:pt x="0" y="0"/>
                </a:cubicBezTo>
                <a:close/>
              </a:path>
            </a:pathLst>
          </a:custGeom>
          <a:noFill/>
          <a:ln w="44450" cap="rnd">
            <a:solidFill>
              <a:srgbClr val="E8A33D"/>
            </a:solidFill>
            <a:prstDash val="sysDot"/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8229600" cy="548640"/>
          </a:xfrm>
          <a:prstGeom prst="rect">
            <a:avLst/>
          </a:prstGeom>
          <a:noFill/>
          <a:ln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Any Questions?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 —  Spring Boot REST API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20095" y="6080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65B65A-DDD2-A111-9453-01038F6FC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935" y="1807887"/>
            <a:ext cx="4993059" cy="245752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1074</Words>
  <Application>Microsoft Office PowerPoint</Application>
  <PresentationFormat>Widescreen</PresentationFormat>
  <Paragraphs>224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Turki Alghamdi</cp:lastModifiedBy>
  <cp:revision>2</cp:revision>
  <dcterms:created xsi:type="dcterms:W3CDTF">2026-09-15T23:29:13Z</dcterms:created>
  <dcterms:modified xsi:type="dcterms:W3CDTF">2026-09-16T01:37:10Z</dcterms:modified>
</cp:coreProperties>
</file>